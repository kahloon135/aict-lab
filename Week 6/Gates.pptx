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583" r:id="rId2"/>
    <p:sldId id="257" r:id="rId3"/>
    <p:sldId id="580" r:id="rId4"/>
    <p:sldId id="581" r:id="rId5"/>
    <p:sldId id="582" r:id="rId6"/>
    <p:sldId id="261" r:id="rId7"/>
    <p:sldId id="262" r:id="rId8"/>
    <p:sldId id="584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53079" autoAdjust="0"/>
    <p:restoredTop sz="94660"/>
  </p:normalViewPr>
  <p:slideViewPr>
    <p:cSldViewPr snapToGrid="0">
      <p:cViewPr varScale="1">
        <p:scale>
          <a:sx n="74" d="100"/>
          <a:sy n="74" d="100"/>
        </p:scale>
        <p:origin x="96" y="24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PK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45259EE-1594-4CF5-9FEC-9C1B98B81308}" type="datetimeFigureOut">
              <a:rPr lang="en-PK" smtClean="0"/>
              <a:t>11/19/2025</a:t>
            </a:fld>
            <a:endParaRPr lang="en-PK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PK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P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E77060B-27AD-494A-8D7A-3660AEAD2962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2720095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5EDEF3-EF3C-6E93-EEF0-D4617223B8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94D92DF-C5E6-CB3B-B1CB-E59B79D670B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D173D9-1A33-279C-E674-854F32644F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4BA786-6D57-45AD-A844-06E8431CAD83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454D0F-A4F8-5317-078E-F21F82F4F9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10033E-95E0-36A6-0894-DF03649562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CD4EFC-4D02-41DD-822E-EF4E4FB8AA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011178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F9DE3F-07E5-DB35-81D1-7838475120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7D839F-C05C-2580-4B99-C631B66E56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744475-387B-1279-6881-09B30D3E6F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4BA786-6D57-45AD-A844-06E8431CAD83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2D94B7-0927-C97F-0874-B66087E21F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5F21F7-020B-DBAA-AA57-9B73F81315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CD4EFC-4D02-41DD-822E-EF4E4FB8AA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173381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72A280-C660-A42A-A509-86E1B9535C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1AA4EC8-6494-FF94-4C21-361308362E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E78A2E-61E7-5E8D-E465-FDFA7CD984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4BA786-6D57-45AD-A844-06E8431CAD83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6794DF-9BA2-F0CA-9928-A4B417E789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B66B6F-08CE-38F0-1A83-049B162280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CD4EFC-4D02-41DD-822E-EF4E4FB8AA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054272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D6E527-DE33-485C-0A88-E245F4B804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F15DDF-75EE-20D1-AC40-2E26137AC95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24F65D4-C6E3-046A-48EA-FE6DAA69AB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4C841B9-2918-BB67-579F-EBEEA1F0CE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4BA786-6D57-45AD-A844-06E8431CAD83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35C896D-0F47-1971-2726-BABC11D524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DD42ABD-1A59-F210-8C10-2E91521B37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CD4EFC-4D02-41DD-822E-EF4E4FB8AA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833956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03354B-988B-CEAE-029A-0CB566651E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7F5C2AA-A5B6-72BB-03FF-6E6DCF12D1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62C92AD-DCF8-FAA7-CFF4-AC335B1AD7C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4D0D27D-431B-FF65-63B7-8BD8B69DE61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33A6204-3CC9-C53E-0D39-BD29CA22595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1EA0BD9-2C6A-1C36-5BAA-B5F98AC1E6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4BA786-6D57-45AD-A844-06E8431CAD83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7A27743-86B9-2345-45EF-C412B0C09D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37761AE-97A5-C1BA-BF66-0893EB6A3E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CD4EFC-4D02-41DD-822E-EF4E4FB8AA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362992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658966-6CDB-AAA8-CE59-7004D49460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CA5E807-A0B1-2369-85EB-9B4E316399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4BA786-6D57-45AD-A844-06E8431CAD83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C420E44-F17F-177D-A9EF-7A061E6B69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9C63BE2-5B23-7C5B-E4B8-7EF2F35BF0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CD4EFC-4D02-41DD-822E-EF4E4FB8AA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28309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6F9EE4F-7C88-5754-D6A7-B2AC3C7184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4BA786-6D57-45AD-A844-06E8431CAD83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D0099ED-C82A-3D2B-EC26-8C1361BB21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83E73C3-F2E9-77D7-1DA0-D090425722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CD4EFC-4D02-41DD-822E-EF4E4FB8AA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026404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36749-3866-B020-968C-0078201BA9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AD0999-1076-8646-DE8B-4E98117B2E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B79DB26-6DC4-B59E-F0ED-E980002B652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B32D25A-07EB-5DE0-66C9-69AA844A1F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4BA786-6D57-45AD-A844-06E8431CAD83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452FFF8-0B89-BE69-1EA1-C9787233FE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3752949-2811-D083-49DD-658F401507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CD4EFC-4D02-41DD-822E-EF4E4FB8AA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307921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2D3650-8F5A-2852-75A1-353CC57192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49FB85D-A1BA-3CC0-D7CA-31838CBB028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BB72438-DF5D-41BB-A35A-17D585E94A9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0BFAEF5-F5D4-BC27-1BF9-21F6FA0838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4BA786-6D57-45AD-A844-06E8431CAD83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9FEFA83-24C9-6DA3-E229-0E61FF22B6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5473F5A-05AD-76C4-92A1-82AE9647F4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CD4EFC-4D02-41DD-822E-EF4E4FB8AA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575343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990259-6089-FDAE-879D-E32A4DDCC8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D4B00CF-31D6-4518-3965-FA45C3D82D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FCE183-B05F-30E0-C176-5A0983E0AC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4BA786-6D57-45AD-A844-06E8431CAD83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C4EDC0-764C-46E5-B11F-936E5D15B0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277F1B-D686-FE39-5B60-04A00A04C6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CD4EFC-4D02-41DD-822E-EF4E4FB8AA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857084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5C4BEE9-AE27-0FE4-80EA-19339EE542D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ED23822-DDC1-4B90-5704-15F3079AEFD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1FC5DF-C995-9220-8A30-DD44E9CE78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4BA786-6D57-45AD-A844-06E8431CAD83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7A71D0-8312-C4EE-EB81-C3B67B3129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263D55-DBED-468B-AE1B-518A59DBF4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CD4EFC-4D02-41DD-822E-EF4E4FB8AA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712472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B6DFC97-01AE-3A38-7C10-9F1FF6057E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447EC58-A1A2-4D83-8233-626A08A6F3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8D0694-A8A4-0EED-2D12-1BFC78FDE41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C4BA786-6D57-45AD-A844-06E8431CAD83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2928DE-5E4D-3ADC-3F85-32120EB0A38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182D2F-EDF6-14EB-FEF9-E4DADF8B58A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2CD4EFC-4D02-41DD-822E-EF4E4FB8AA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88793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alpha val="73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083443" y="960698"/>
            <a:ext cx="781291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u="sng" dirty="0" smtClean="0">
                <a:solidFill>
                  <a:schemeClr val="bg1"/>
                </a:solidFill>
                <a:latin typeface="Arial Black" panose="020B0A04020102020204" pitchFamily="34" charset="0"/>
              </a:rPr>
              <a:t>LOGIC GATES PRESENTATION </a:t>
            </a:r>
            <a:endParaRPr lang="en-US" sz="3600" u="sng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261641" y="2592729"/>
            <a:ext cx="9606987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Exploring AND, OR, and XOR – The Heart of Every Computer Circuit</a:t>
            </a:r>
            <a:r>
              <a:rPr lang="en-US" dirty="0"/>
              <a:t/>
            </a:r>
            <a:br>
              <a:rPr lang="en-US" dirty="0"/>
            </a:br>
            <a:endParaRPr lang="en-US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Presented </a:t>
            </a: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by </a:t>
            </a:r>
            <a:r>
              <a:rPr lang="en-US" sz="2800" i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[Muhammad Abubakar]</a:t>
            </a:r>
            <a:endParaRPr lang="en-US" sz="2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5000066" y="5704608"/>
            <a:ext cx="213013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>
                <a:solidFill>
                  <a:schemeClr val="bg1"/>
                </a:solidFill>
              </a:rPr>
              <a:t>2025-CS-254</a:t>
            </a:r>
            <a:endParaRPr lang="en-US" sz="24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2104358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500"/>
                            </p:stCondLst>
                            <p:childTnLst>
                              <p:par>
                                <p:cTn id="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2500"/>
                            </p:stCondLst>
                            <p:childTnLst>
                              <p:par>
                                <p:cTn id="14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pattFill prst="pct10">
          <a:fgClr>
            <a:schemeClr val="accent1"/>
          </a:fgClr>
          <a:bgClr>
            <a:schemeClr val="accent1">
              <a:lumMod val="40000"/>
              <a:lumOff val="60000"/>
            </a:schemeClr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09241779"/>
              </p:ext>
            </p:extLst>
          </p:nvPr>
        </p:nvGraphicFramePr>
        <p:xfrm>
          <a:off x="2670049" y="2438738"/>
          <a:ext cx="7351776" cy="3072044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2450592">
                  <a:extLst>
                    <a:ext uri="{9D8B030D-6E8A-4147-A177-3AD203B41FA5}">
                      <a16:colId xmlns:a16="http://schemas.microsoft.com/office/drawing/2014/main" val="2102292928"/>
                    </a:ext>
                  </a:extLst>
                </a:gridCol>
                <a:gridCol w="2450592">
                  <a:extLst>
                    <a:ext uri="{9D8B030D-6E8A-4147-A177-3AD203B41FA5}">
                      <a16:colId xmlns:a16="http://schemas.microsoft.com/office/drawing/2014/main" val="493955039"/>
                    </a:ext>
                  </a:extLst>
                </a:gridCol>
                <a:gridCol w="2450592">
                  <a:extLst>
                    <a:ext uri="{9D8B030D-6E8A-4147-A177-3AD203B41FA5}">
                      <a16:colId xmlns:a16="http://schemas.microsoft.com/office/drawing/2014/main" val="1965037428"/>
                    </a:ext>
                  </a:extLst>
                </a:gridCol>
              </a:tblGrid>
              <a:tr h="723780">
                <a:tc>
                  <a:txBody>
                    <a:bodyPr/>
                    <a:lstStyle/>
                    <a:p>
                      <a:pPr algn="ctr"/>
                      <a:r>
                        <a:rPr lang="en-US" sz="3200" dirty="0" smtClean="0"/>
                        <a:t>A</a:t>
                      </a:r>
                      <a:endParaRPr 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dirty="0" smtClean="0"/>
                        <a:t>B</a:t>
                      </a:r>
                      <a:endParaRPr 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dirty="0" smtClean="0"/>
                        <a:t>A.B</a:t>
                      </a:r>
                      <a:endParaRPr lang="en-US" sz="3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22277656"/>
                  </a:ext>
                </a:extLst>
              </a:tr>
              <a:tr h="587066">
                <a:tc>
                  <a:txBody>
                    <a:bodyPr/>
                    <a:lstStyle/>
                    <a:p>
                      <a:r>
                        <a:rPr lang="en-US" sz="2400" dirty="0" smtClean="0">
                          <a:latin typeface="Algerian" panose="04020705040A02060702" pitchFamily="82" charset="0"/>
                        </a:rPr>
                        <a:t>0</a:t>
                      </a:r>
                      <a:endParaRPr lang="en-US" sz="2400" dirty="0">
                        <a:latin typeface="Algerian" panose="04020705040A02060702" pitchFamily="8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 smtClean="0">
                          <a:latin typeface="Algerian" panose="04020705040A02060702" pitchFamily="82" charset="0"/>
                        </a:rPr>
                        <a:t>1</a:t>
                      </a:r>
                      <a:endParaRPr lang="en-US" sz="2400" dirty="0">
                        <a:latin typeface="Algerian" panose="04020705040A02060702" pitchFamily="8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 smtClean="0">
                          <a:latin typeface="Algerian" panose="04020705040A02060702" pitchFamily="82" charset="0"/>
                        </a:rPr>
                        <a:t>0</a:t>
                      </a:r>
                      <a:endParaRPr lang="en-US" sz="2400" dirty="0">
                        <a:latin typeface="Algerian" panose="04020705040A02060702" pitchFamily="8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73546058"/>
                  </a:ext>
                </a:extLst>
              </a:tr>
              <a:tr h="587066">
                <a:tc>
                  <a:txBody>
                    <a:bodyPr/>
                    <a:lstStyle/>
                    <a:p>
                      <a:r>
                        <a:rPr lang="en-US" sz="2400" dirty="0" smtClean="0">
                          <a:latin typeface="Algerian" panose="04020705040A02060702" pitchFamily="82" charset="0"/>
                        </a:rPr>
                        <a:t>1</a:t>
                      </a:r>
                      <a:endParaRPr lang="en-US" sz="2400" dirty="0">
                        <a:latin typeface="Algerian" panose="04020705040A02060702" pitchFamily="8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 smtClean="0">
                          <a:latin typeface="Algerian" panose="04020705040A02060702" pitchFamily="82" charset="0"/>
                        </a:rPr>
                        <a:t>1</a:t>
                      </a:r>
                      <a:endParaRPr lang="en-US" sz="2400" dirty="0">
                        <a:latin typeface="Algerian" panose="04020705040A02060702" pitchFamily="8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 smtClean="0">
                          <a:latin typeface="Algerian" panose="04020705040A02060702" pitchFamily="82" charset="0"/>
                        </a:rPr>
                        <a:t>1</a:t>
                      </a:r>
                      <a:endParaRPr lang="en-US" sz="2400" dirty="0">
                        <a:latin typeface="Algerian" panose="04020705040A02060702" pitchFamily="8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21597683"/>
                  </a:ext>
                </a:extLst>
              </a:tr>
              <a:tr h="587066">
                <a:tc>
                  <a:txBody>
                    <a:bodyPr/>
                    <a:lstStyle/>
                    <a:p>
                      <a:r>
                        <a:rPr lang="en-US" sz="2400" dirty="0" smtClean="0">
                          <a:latin typeface="Algerian" panose="04020705040A02060702" pitchFamily="82" charset="0"/>
                        </a:rPr>
                        <a:t>0</a:t>
                      </a:r>
                      <a:endParaRPr lang="en-US" sz="2400" dirty="0">
                        <a:latin typeface="Algerian" panose="04020705040A02060702" pitchFamily="8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 smtClean="0">
                          <a:latin typeface="Algerian" panose="04020705040A02060702" pitchFamily="82" charset="0"/>
                        </a:rPr>
                        <a:t>0</a:t>
                      </a:r>
                      <a:endParaRPr lang="en-US" sz="2400" dirty="0">
                        <a:latin typeface="Algerian" panose="04020705040A02060702" pitchFamily="8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 smtClean="0">
                          <a:latin typeface="Algerian" panose="04020705040A02060702" pitchFamily="82" charset="0"/>
                        </a:rPr>
                        <a:t>0</a:t>
                      </a:r>
                      <a:endParaRPr lang="en-US" sz="2400" dirty="0">
                        <a:latin typeface="Algerian" panose="04020705040A02060702" pitchFamily="8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77457405"/>
                  </a:ext>
                </a:extLst>
              </a:tr>
              <a:tr h="587066">
                <a:tc>
                  <a:txBody>
                    <a:bodyPr/>
                    <a:lstStyle/>
                    <a:p>
                      <a:r>
                        <a:rPr lang="en-US" sz="2400" dirty="0" smtClean="0">
                          <a:latin typeface="Algerian" panose="04020705040A02060702" pitchFamily="82" charset="0"/>
                        </a:rPr>
                        <a:t>1</a:t>
                      </a:r>
                      <a:endParaRPr lang="en-US" sz="2400" dirty="0">
                        <a:latin typeface="Algerian" panose="04020705040A02060702" pitchFamily="8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 smtClean="0">
                          <a:latin typeface="Algerian" panose="04020705040A02060702" pitchFamily="82" charset="0"/>
                        </a:rPr>
                        <a:t>0</a:t>
                      </a:r>
                      <a:endParaRPr lang="en-US" sz="2400" dirty="0">
                        <a:latin typeface="Algerian" panose="04020705040A02060702" pitchFamily="8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 smtClean="0">
                          <a:latin typeface="Algerian" panose="04020705040A02060702" pitchFamily="82" charset="0"/>
                        </a:rPr>
                        <a:t>0</a:t>
                      </a:r>
                      <a:endParaRPr lang="en-US" sz="2400" dirty="0">
                        <a:latin typeface="Algerian" panose="04020705040A02060702" pitchFamily="8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49617963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A91836B2-7B54-7D96-EB72-C2E202333693}"/>
              </a:ext>
            </a:extLst>
          </p:cNvPr>
          <p:cNvSpPr txBox="1"/>
          <p:nvPr/>
        </p:nvSpPr>
        <p:spPr>
          <a:xfrm>
            <a:off x="694807" y="700287"/>
            <a:ext cx="5270642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600" b="1" i="1" dirty="0">
                <a:latin typeface="Arial Black" panose="020B0A04020102020204" pitchFamily="34" charset="0"/>
              </a:rPr>
              <a:t> </a:t>
            </a:r>
            <a:r>
              <a:rPr lang="en-US" sz="6600" b="1" i="1" dirty="0" smtClean="0">
                <a:latin typeface="Arial Black" panose="020B0A04020102020204" pitchFamily="34" charset="0"/>
              </a:rPr>
              <a:t>And gate</a:t>
            </a:r>
            <a:endParaRPr lang="en-US" sz="6600" b="1" i="1" dirty="0"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266558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pattFill prst="pct10">
          <a:fgClr>
            <a:schemeClr val="accent1"/>
          </a:fgClr>
          <a:bgClr>
            <a:schemeClr val="accent1">
              <a:lumMod val="40000"/>
              <a:lumOff val="60000"/>
            </a:schemeClr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/>
          <p:cNvGrpSpPr/>
          <p:nvPr/>
        </p:nvGrpSpPr>
        <p:grpSpPr>
          <a:xfrm>
            <a:off x="801530" y="328124"/>
            <a:ext cx="3474720" cy="1560576"/>
            <a:chOff x="1536192" y="2627259"/>
            <a:chExt cx="3474720" cy="1560576"/>
          </a:xfrm>
        </p:grpSpPr>
        <p:sp>
          <p:nvSpPr>
            <p:cNvPr id="2" name="Flowchart: Delay 1"/>
            <p:cNvSpPr/>
            <p:nvPr/>
          </p:nvSpPr>
          <p:spPr>
            <a:xfrm>
              <a:off x="2401824" y="2627259"/>
              <a:ext cx="1743456" cy="1560576"/>
            </a:xfrm>
            <a:prstGeom prst="flowChartDelay">
              <a:avLst/>
            </a:prstGeom>
            <a:noFill/>
            <a:ln w="762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7" name="Straight Connector 6"/>
            <p:cNvCxnSpPr/>
            <p:nvPr/>
          </p:nvCxnSpPr>
          <p:spPr>
            <a:xfrm>
              <a:off x="1536192" y="2889504"/>
              <a:ext cx="865632" cy="0"/>
            </a:xfrm>
            <a:prstGeom prst="line">
              <a:avLst/>
            </a:prstGeom>
            <a:ln w="762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8" name="Straight Connector 7"/>
            <p:cNvCxnSpPr/>
            <p:nvPr/>
          </p:nvCxnSpPr>
          <p:spPr>
            <a:xfrm>
              <a:off x="1536192" y="3864864"/>
              <a:ext cx="865632" cy="0"/>
            </a:xfrm>
            <a:prstGeom prst="line">
              <a:avLst/>
            </a:prstGeom>
            <a:ln w="762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>
              <a:off x="4145280" y="3407547"/>
              <a:ext cx="865632" cy="0"/>
            </a:xfrm>
            <a:prstGeom prst="line">
              <a:avLst/>
            </a:prstGeom>
            <a:ln w="762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1" name="Oval 10"/>
          <p:cNvSpPr/>
          <p:nvPr/>
        </p:nvSpPr>
        <p:spPr>
          <a:xfrm>
            <a:off x="251257" y="401402"/>
            <a:ext cx="471340" cy="47134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 smtClean="0">
                <a:solidFill>
                  <a:schemeClr val="tx1"/>
                </a:solidFill>
              </a:rPr>
              <a:t>1</a:t>
            </a:r>
            <a:endParaRPr lang="en-US" sz="2400" b="1" dirty="0">
              <a:solidFill>
                <a:schemeClr val="tx1"/>
              </a:solidFill>
            </a:endParaRPr>
          </a:p>
        </p:txBody>
      </p:sp>
      <p:sp>
        <p:nvSpPr>
          <p:cNvPr id="12" name="Oval 11"/>
          <p:cNvSpPr/>
          <p:nvPr/>
        </p:nvSpPr>
        <p:spPr>
          <a:xfrm>
            <a:off x="251257" y="1417360"/>
            <a:ext cx="471340" cy="47134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 smtClean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13" name="Oval 12"/>
          <p:cNvSpPr/>
          <p:nvPr/>
        </p:nvSpPr>
        <p:spPr>
          <a:xfrm>
            <a:off x="4349151" y="946020"/>
            <a:ext cx="471340" cy="47134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0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877447" y="3851613"/>
            <a:ext cx="3474720" cy="1560576"/>
            <a:chOff x="1536192" y="2627259"/>
            <a:chExt cx="3474720" cy="1560576"/>
          </a:xfrm>
        </p:grpSpPr>
        <p:sp>
          <p:nvSpPr>
            <p:cNvPr id="15" name="Flowchart: Delay 14"/>
            <p:cNvSpPr/>
            <p:nvPr/>
          </p:nvSpPr>
          <p:spPr>
            <a:xfrm>
              <a:off x="2401824" y="2627259"/>
              <a:ext cx="1743456" cy="1560576"/>
            </a:xfrm>
            <a:prstGeom prst="flowChartDelay">
              <a:avLst/>
            </a:prstGeom>
            <a:noFill/>
            <a:ln w="762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6" name="Straight Connector 15"/>
            <p:cNvCxnSpPr/>
            <p:nvPr/>
          </p:nvCxnSpPr>
          <p:spPr>
            <a:xfrm>
              <a:off x="1536192" y="2889504"/>
              <a:ext cx="865632" cy="0"/>
            </a:xfrm>
            <a:prstGeom prst="line">
              <a:avLst/>
            </a:prstGeom>
            <a:ln w="762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/>
            <p:nvPr/>
          </p:nvCxnSpPr>
          <p:spPr>
            <a:xfrm>
              <a:off x="1536192" y="3864864"/>
              <a:ext cx="865632" cy="0"/>
            </a:xfrm>
            <a:prstGeom prst="line">
              <a:avLst/>
            </a:prstGeom>
            <a:ln w="762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4145280" y="3407547"/>
              <a:ext cx="865632" cy="0"/>
            </a:xfrm>
            <a:prstGeom prst="line">
              <a:avLst/>
            </a:prstGeom>
            <a:ln w="762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19" name="Group 18"/>
          <p:cNvGrpSpPr/>
          <p:nvPr/>
        </p:nvGrpSpPr>
        <p:grpSpPr>
          <a:xfrm>
            <a:off x="7697931" y="328124"/>
            <a:ext cx="3474720" cy="1560576"/>
            <a:chOff x="1536192" y="2627259"/>
            <a:chExt cx="3474720" cy="1560576"/>
          </a:xfrm>
        </p:grpSpPr>
        <p:sp>
          <p:nvSpPr>
            <p:cNvPr id="20" name="Flowchart: Delay 19"/>
            <p:cNvSpPr/>
            <p:nvPr/>
          </p:nvSpPr>
          <p:spPr>
            <a:xfrm>
              <a:off x="2401824" y="2627259"/>
              <a:ext cx="1743456" cy="1560576"/>
            </a:xfrm>
            <a:prstGeom prst="flowChartDelay">
              <a:avLst/>
            </a:prstGeom>
            <a:noFill/>
            <a:ln w="762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1" name="Straight Connector 20"/>
            <p:cNvCxnSpPr/>
            <p:nvPr/>
          </p:nvCxnSpPr>
          <p:spPr>
            <a:xfrm>
              <a:off x="1536192" y="2889504"/>
              <a:ext cx="865632" cy="0"/>
            </a:xfrm>
            <a:prstGeom prst="line">
              <a:avLst/>
            </a:prstGeom>
            <a:ln w="762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2" name="Straight Connector 21"/>
            <p:cNvCxnSpPr/>
            <p:nvPr/>
          </p:nvCxnSpPr>
          <p:spPr>
            <a:xfrm>
              <a:off x="1536192" y="3864864"/>
              <a:ext cx="865632" cy="0"/>
            </a:xfrm>
            <a:prstGeom prst="line">
              <a:avLst/>
            </a:prstGeom>
            <a:ln w="762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3" name="Straight Connector 22"/>
            <p:cNvCxnSpPr/>
            <p:nvPr/>
          </p:nvCxnSpPr>
          <p:spPr>
            <a:xfrm>
              <a:off x="4145280" y="3407547"/>
              <a:ext cx="865632" cy="0"/>
            </a:xfrm>
            <a:prstGeom prst="line">
              <a:avLst/>
            </a:prstGeom>
            <a:ln w="762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24" name="Group 23"/>
          <p:cNvGrpSpPr/>
          <p:nvPr/>
        </p:nvGrpSpPr>
        <p:grpSpPr>
          <a:xfrm>
            <a:off x="7720427" y="4113858"/>
            <a:ext cx="3474720" cy="1560576"/>
            <a:chOff x="1536192" y="2627259"/>
            <a:chExt cx="3474720" cy="1560576"/>
          </a:xfrm>
        </p:grpSpPr>
        <p:sp>
          <p:nvSpPr>
            <p:cNvPr id="25" name="Flowchart: Delay 24"/>
            <p:cNvSpPr/>
            <p:nvPr/>
          </p:nvSpPr>
          <p:spPr>
            <a:xfrm>
              <a:off x="2401824" y="2627259"/>
              <a:ext cx="1743456" cy="1560576"/>
            </a:xfrm>
            <a:prstGeom prst="flowChartDelay">
              <a:avLst/>
            </a:prstGeom>
            <a:noFill/>
            <a:ln w="762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6" name="Straight Connector 25"/>
            <p:cNvCxnSpPr/>
            <p:nvPr/>
          </p:nvCxnSpPr>
          <p:spPr>
            <a:xfrm>
              <a:off x="1536192" y="2889504"/>
              <a:ext cx="865632" cy="0"/>
            </a:xfrm>
            <a:prstGeom prst="line">
              <a:avLst/>
            </a:prstGeom>
            <a:ln w="762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7" name="Straight Connector 26"/>
            <p:cNvCxnSpPr/>
            <p:nvPr/>
          </p:nvCxnSpPr>
          <p:spPr>
            <a:xfrm>
              <a:off x="1536192" y="3864864"/>
              <a:ext cx="865632" cy="0"/>
            </a:xfrm>
            <a:prstGeom prst="line">
              <a:avLst/>
            </a:prstGeom>
            <a:ln w="762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8" name="Straight Connector 27"/>
            <p:cNvCxnSpPr/>
            <p:nvPr/>
          </p:nvCxnSpPr>
          <p:spPr>
            <a:xfrm>
              <a:off x="4145280" y="3407547"/>
              <a:ext cx="865632" cy="0"/>
            </a:xfrm>
            <a:prstGeom prst="line">
              <a:avLst/>
            </a:prstGeom>
            <a:ln w="762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29" name="Oval 28"/>
          <p:cNvSpPr/>
          <p:nvPr/>
        </p:nvSpPr>
        <p:spPr>
          <a:xfrm>
            <a:off x="359728" y="4853548"/>
            <a:ext cx="471340" cy="47134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 smtClean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32" name="Oval 31"/>
          <p:cNvSpPr/>
          <p:nvPr/>
        </p:nvSpPr>
        <p:spPr>
          <a:xfrm>
            <a:off x="327174" y="3892894"/>
            <a:ext cx="471340" cy="47134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 smtClean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33" name="Oval 32"/>
          <p:cNvSpPr/>
          <p:nvPr/>
        </p:nvSpPr>
        <p:spPr>
          <a:xfrm>
            <a:off x="4470820" y="4364234"/>
            <a:ext cx="471340" cy="47134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 smtClean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34" name="Oval 33"/>
          <p:cNvSpPr/>
          <p:nvPr/>
        </p:nvSpPr>
        <p:spPr>
          <a:xfrm>
            <a:off x="6975807" y="1417360"/>
            <a:ext cx="471340" cy="47134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 smtClean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35" name="Oval 34"/>
          <p:cNvSpPr/>
          <p:nvPr/>
        </p:nvSpPr>
        <p:spPr>
          <a:xfrm>
            <a:off x="7005687" y="556180"/>
            <a:ext cx="471340" cy="423651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1</a:t>
            </a:r>
            <a:endParaRPr lang="en-US" sz="2400" b="1" dirty="0" smtClean="0">
              <a:solidFill>
                <a:schemeClr val="tx1"/>
              </a:solidFill>
            </a:endParaRPr>
          </a:p>
        </p:txBody>
      </p:sp>
      <p:sp>
        <p:nvSpPr>
          <p:cNvPr id="36" name="Oval 35"/>
          <p:cNvSpPr/>
          <p:nvPr/>
        </p:nvSpPr>
        <p:spPr>
          <a:xfrm>
            <a:off x="7126791" y="5089217"/>
            <a:ext cx="471340" cy="471341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1</a:t>
            </a:r>
            <a:endParaRPr lang="en-US" sz="2400" b="1" dirty="0" smtClean="0">
              <a:solidFill>
                <a:schemeClr val="tx1"/>
              </a:solidFill>
            </a:endParaRPr>
          </a:p>
        </p:txBody>
      </p:sp>
      <p:sp>
        <p:nvSpPr>
          <p:cNvPr id="37" name="Oval 36"/>
          <p:cNvSpPr/>
          <p:nvPr/>
        </p:nvSpPr>
        <p:spPr>
          <a:xfrm>
            <a:off x="7126791" y="4128563"/>
            <a:ext cx="471340" cy="471341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0</a:t>
            </a:r>
            <a:endParaRPr lang="en-US" sz="2400" b="1" dirty="0" smtClean="0">
              <a:solidFill>
                <a:schemeClr val="tx1"/>
              </a:solidFill>
            </a:endParaRPr>
          </a:p>
        </p:txBody>
      </p:sp>
      <p:sp>
        <p:nvSpPr>
          <p:cNvPr id="38" name="Oval 37"/>
          <p:cNvSpPr/>
          <p:nvPr/>
        </p:nvSpPr>
        <p:spPr>
          <a:xfrm>
            <a:off x="11202879" y="946020"/>
            <a:ext cx="471340" cy="47134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 smtClean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41" name="Oval 40"/>
          <p:cNvSpPr/>
          <p:nvPr/>
        </p:nvSpPr>
        <p:spPr>
          <a:xfrm>
            <a:off x="11317067" y="4658475"/>
            <a:ext cx="471340" cy="471341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0</a:t>
            </a:r>
            <a:endParaRPr lang="en-US" sz="2400" b="1" dirty="0" smtClean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1291248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30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40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2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6000"/>
                            </p:stCondLst>
                            <p:childTnLst>
                              <p:par>
                                <p:cTn id="2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7000"/>
                            </p:stCondLst>
                            <p:childTnLst>
                              <p:par>
                                <p:cTn id="2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8000"/>
                            </p:stCondLst>
                            <p:childTnLst>
                              <p:par>
                                <p:cTn id="3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7" dur="2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10000"/>
                            </p:stCondLst>
                            <p:childTnLst>
                              <p:par>
                                <p:cTn id="3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11000"/>
                            </p:stCondLst>
                            <p:childTnLst>
                              <p:par>
                                <p:cTn id="4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1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12000"/>
                            </p:stCondLst>
                            <p:childTnLst>
                              <p:par>
                                <p:cTn id="4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54" dur="2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2000"/>
                            </p:stCondLst>
                            <p:childTnLst>
                              <p:par>
                                <p:cTn id="5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1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300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4000"/>
                            </p:stCondLst>
                            <p:childTnLst>
                              <p:par>
                                <p:cTn id="6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1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  <p:bldP spid="13" grpId="0" animBg="1"/>
      <p:bldP spid="29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4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pct50">
          <a:fgClr>
            <a:schemeClr val="accent1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83788209"/>
              </p:ext>
            </p:extLst>
          </p:nvPr>
        </p:nvGraphicFramePr>
        <p:xfrm>
          <a:off x="2670049" y="2438738"/>
          <a:ext cx="7351776" cy="3072044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2450592">
                  <a:extLst>
                    <a:ext uri="{9D8B030D-6E8A-4147-A177-3AD203B41FA5}">
                      <a16:colId xmlns:a16="http://schemas.microsoft.com/office/drawing/2014/main" val="2102292928"/>
                    </a:ext>
                  </a:extLst>
                </a:gridCol>
                <a:gridCol w="2450592">
                  <a:extLst>
                    <a:ext uri="{9D8B030D-6E8A-4147-A177-3AD203B41FA5}">
                      <a16:colId xmlns:a16="http://schemas.microsoft.com/office/drawing/2014/main" val="493955039"/>
                    </a:ext>
                  </a:extLst>
                </a:gridCol>
                <a:gridCol w="2450592">
                  <a:extLst>
                    <a:ext uri="{9D8B030D-6E8A-4147-A177-3AD203B41FA5}">
                      <a16:colId xmlns:a16="http://schemas.microsoft.com/office/drawing/2014/main" val="1965037428"/>
                    </a:ext>
                  </a:extLst>
                </a:gridCol>
              </a:tblGrid>
              <a:tr h="723780">
                <a:tc>
                  <a:txBody>
                    <a:bodyPr/>
                    <a:lstStyle/>
                    <a:p>
                      <a:pPr algn="ctr"/>
                      <a:r>
                        <a:rPr lang="en-US" sz="3200" dirty="0" smtClean="0"/>
                        <a:t>A</a:t>
                      </a:r>
                      <a:endParaRPr 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dirty="0" smtClean="0"/>
                        <a:t>B</a:t>
                      </a:r>
                      <a:endParaRPr 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dirty="0" smtClean="0"/>
                        <a:t>A+B</a:t>
                      </a:r>
                      <a:endParaRPr lang="en-US" sz="3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22277656"/>
                  </a:ext>
                </a:extLst>
              </a:tr>
              <a:tr h="587066">
                <a:tc>
                  <a:txBody>
                    <a:bodyPr/>
                    <a:lstStyle/>
                    <a:p>
                      <a:r>
                        <a:rPr lang="en-US" sz="2400" dirty="0" smtClean="0">
                          <a:latin typeface="Algerian" panose="04020705040A02060702" pitchFamily="82" charset="0"/>
                        </a:rPr>
                        <a:t>0</a:t>
                      </a:r>
                      <a:endParaRPr lang="en-US" sz="2400" dirty="0">
                        <a:latin typeface="Algerian" panose="04020705040A02060702" pitchFamily="8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 smtClean="0">
                          <a:latin typeface="Algerian" panose="04020705040A02060702" pitchFamily="82" charset="0"/>
                        </a:rPr>
                        <a:t>1</a:t>
                      </a:r>
                      <a:endParaRPr lang="en-US" sz="2400" dirty="0">
                        <a:latin typeface="Algerian" panose="04020705040A02060702" pitchFamily="8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 smtClean="0">
                          <a:latin typeface="Algerian" panose="04020705040A02060702" pitchFamily="82" charset="0"/>
                        </a:rPr>
                        <a:t>1</a:t>
                      </a:r>
                      <a:endParaRPr lang="en-US" sz="2400" dirty="0">
                        <a:latin typeface="Algerian" panose="04020705040A02060702" pitchFamily="8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73546058"/>
                  </a:ext>
                </a:extLst>
              </a:tr>
              <a:tr h="587066">
                <a:tc>
                  <a:txBody>
                    <a:bodyPr/>
                    <a:lstStyle/>
                    <a:p>
                      <a:r>
                        <a:rPr lang="en-US" sz="2400" dirty="0" smtClean="0">
                          <a:latin typeface="Algerian" panose="04020705040A02060702" pitchFamily="82" charset="0"/>
                        </a:rPr>
                        <a:t>1</a:t>
                      </a:r>
                      <a:endParaRPr lang="en-US" sz="2400" dirty="0">
                        <a:latin typeface="Algerian" panose="04020705040A02060702" pitchFamily="8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 smtClean="0">
                          <a:latin typeface="Algerian" panose="04020705040A02060702" pitchFamily="82" charset="0"/>
                        </a:rPr>
                        <a:t>1</a:t>
                      </a:r>
                      <a:endParaRPr lang="en-US" sz="2400" dirty="0">
                        <a:latin typeface="Algerian" panose="04020705040A02060702" pitchFamily="8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 smtClean="0">
                          <a:latin typeface="Algerian" panose="04020705040A02060702" pitchFamily="82" charset="0"/>
                        </a:rPr>
                        <a:t>1</a:t>
                      </a:r>
                      <a:endParaRPr lang="en-US" sz="2400" dirty="0">
                        <a:latin typeface="Algerian" panose="04020705040A02060702" pitchFamily="8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21597683"/>
                  </a:ext>
                </a:extLst>
              </a:tr>
              <a:tr h="587066">
                <a:tc>
                  <a:txBody>
                    <a:bodyPr/>
                    <a:lstStyle/>
                    <a:p>
                      <a:r>
                        <a:rPr lang="en-US" sz="2400" dirty="0" smtClean="0">
                          <a:latin typeface="Algerian" panose="04020705040A02060702" pitchFamily="82" charset="0"/>
                        </a:rPr>
                        <a:t>0</a:t>
                      </a:r>
                      <a:endParaRPr lang="en-US" sz="2400" dirty="0">
                        <a:latin typeface="Algerian" panose="04020705040A02060702" pitchFamily="8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 smtClean="0">
                          <a:latin typeface="Algerian" panose="04020705040A02060702" pitchFamily="82" charset="0"/>
                        </a:rPr>
                        <a:t>0</a:t>
                      </a:r>
                      <a:endParaRPr lang="en-US" sz="2400" dirty="0">
                        <a:latin typeface="Algerian" panose="04020705040A02060702" pitchFamily="8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 smtClean="0">
                          <a:latin typeface="Algerian" panose="04020705040A02060702" pitchFamily="82" charset="0"/>
                        </a:rPr>
                        <a:t>0</a:t>
                      </a:r>
                      <a:endParaRPr lang="en-US" sz="2400" dirty="0">
                        <a:latin typeface="Algerian" panose="04020705040A02060702" pitchFamily="8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77457405"/>
                  </a:ext>
                </a:extLst>
              </a:tr>
              <a:tr h="587066">
                <a:tc>
                  <a:txBody>
                    <a:bodyPr/>
                    <a:lstStyle/>
                    <a:p>
                      <a:r>
                        <a:rPr lang="en-US" sz="2400" dirty="0" smtClean="0">
                          <a:latin typeface="Algerian" panose="04020705040A02060702" pitchFamily="82" charset="0"/>
                        </a:rPr>
                        <a:t>1</a:t>
                      </a:r>
                      <a:endParaRPr lang="en-US" sz="2400" dirty="0">
                        <a:latin typeface="Algerian" panose="04020705040A02060702" pitchFamily="8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 smtClean="0">
                          <a:latin typeface="Algerian" panose="04020705040A02060702" pitchFamily="82" charset="0"/>
                        </a:rPr>
                        <a:t>0</a:t>
                      </a:r>
                      <a:endParaRPr lang="en-US" sz="2400" dirty="0">
                        <a:latin typeface="Algerian" panose="04020705040A02060702" pitchFamily="8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 smtClean="0">
                          <a:latin typeface="Algerian" panose="04020705040A02060702" pitchFamily="82" charset="0"/>
                        </a:rPr>
                        <a:t>1</a:t>
                      </a:r>
                      <a:endParaRPr lang="en-US" sz="2400" dirty="0">
                        <a:latin typeface="Algerian" panose="04020705040A02060702" pitchFamily="8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49617963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A91836B2-7B54-7D96-EB72-C2E202333693}"/>
              </a:ext>
            </a:extLst>
          </p:cNvPr>
          <p:cNvSpPr txBox="1"/>
          <p:nvPr/>
        </p:nvSpPr>
        <p:spPr>
          <a:xfrm>
            <a:off x="694807" y="700287"/>
            <a:ext cx="5270642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600" b="1" i="1" dirty="0">
                <a:latin typeface="Arial Black" panose="020B0A04020102020204" pitchFamily="34" charset="0"/>
              </a:rPr>
              <a:t> </a:t>
            </a:r>
            <a:r>
              <a:rPr lang="en-US" sz="6600" b="1" i="1" dirty="0" smtClean="0">
                <a:latin typeface="Arial Black" panose="020B0A04020102020204" pitchFamily="34" charset="0"/>
              </a:rPr>
              <a:t>OR Gate</a:t>
            </a:r>
            <a:endParaRPr lang="en-US" sz="6600" b="1" i="1" dirty="0"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0627023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pct50">
          <a:fgClr>
            <a:schemeClr val="accent1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0571" y="23450"/>
            <a:ext cx="3582658" cy="2316479"/>
          </a:xfrm>
          <a:prstGeom prst="rect">
            <a:avLst/>
          </a:prstGeom>
        </p:spPr>
      </p:pic>
      <p:sp>
        <p:nvSpPr>
          <p:cNvPr id="5" name="Oval 4"/>
          <p:cNvSpPr/>
          <p:nvPr/>
        </p:nvSpPr>
        <p:spPr>
          <a:xfrm>
            <a:off x="251257" y="401402"/>
            <a:ext cx="471340" cy="47134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 smtClean="0">
                <a:solidFill>
                  <a:schemeClr val="tx1"/>
                </a:solidFill>
              </a:rPr>
              <a:t>1</a:t>
            </a:r>
            <a:endParaRPr lang="en-US" sz="2400" b="1" dirty="0">
              <a:solidFill>
                <a:schemeClr val="tx1"/>
              </a:solidFill>
            </a:endParaRPr>
          </a:p>
        </p:txBody>
      </p:sp>
      <p:sp>
        <p:nvSpPr>
          <p:cNvPr id="7" name="Oval 6"/>
          <p:cNvSpPr/>
          <p:nvPr/>
        </p:nvSpPr>
        <p:spPr>
          <a:xfrm>
            <a:off x="251257" y="1417360"/>
            <a:ext cx="471340" cy="47134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 smtClean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8" name="Oval 7"/>
          <p:cNvSpPr/>
          <p:nvPr/>
        </p:nvSpPr>
        <p:spPr>
          <a:xfrm>
            <a:off x="4349151" y="946020"/>
            <a:ext cx="471340" cy="47134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 smtClean="0">
                <a:solidFill>
                  <a:schemeClr val="tx1"/>
                </a:solidFill>
              </a:rPr>
              <a:t>1</a:t>
            </a:r>
            <a:endParaRPr lang="en-US" sz="2400" b="1" dirty="0">
              <a:solidFill>
                <a:schemeClr val="tx1"/>
              </a:solidFill>
            </a:endParaRPr>
          </a:p>
        </p:txBody>
      </p:sp>
      <p:sp>
        <p:nvSpPr>
          <p:cNvPr id="9" name="Oval 8"/>
          <p:cNvSpPr/>
          <p:nvPr/>
        </p:nvSpPr>
        <p:spPr>
          <a:xfrm>
            <a:off x="359728" y="4853548"/>
            <a:ext cx="471340" cy="47134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 smtClean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10" name="Oval 9"/>
          <p:cNvSpPr/>
          <p:nvPr/>
        </p:nvSpPr>
        <p:spPr>
          <a:xfrm>
            <a:off x="327174" y="3892894"/>
            <a:ext cx="471340" cy="47134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 smtClean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11" name="Oval 10"/>
          <p:cNvSpPr/>
          <p:nvPr/>
        </p:nvSpPr>
        <p:spPr>
          <a:xfrm>
            <a:off x="4470820" y="4364234"/>
            <a:ext cx="471340" cy="47134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0</a:t>
            </a:r>
            <a:endParaRPr lang="en-US" sz="2400" b="1" dirty="0" smtClean="0">
              <a:solidFill>
                <a:schemeClr val="tx1"/>
              </a:solidFill>
            </a:endParaRPr>
          </a:p>
        </p:txBody>
      </p:sp>
      <p:sp>
        <p:nvSpPr>
          <p:cNvPr id="12" name="Oval 11"/>
          <p:cNvSpPr/>
          <p:nvPr/>
        </p:nvSpPr>
        <p:spPr>
          <a:xfrm>
            <a:off x="6975807" y="1417360"/>
            <a:ext cx="471340" cy="47134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 smtClean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13" name="Oval 12"/>
          <p:cNvSpPr/>
          <p:nvPr/>
        </p:nvSpPr>
        <p:spPr>
          <a:xfrm>
            <a:off x="7005687" y="556180"/>
            <a:ext cx="471340" cy="423651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1</a:t>
            </a:r>
            <a:endParaRPr lang="en-US" sz="2400" b="1" dirty="0" smtClean="0">
              <a:solidFill>
                <a:schemeClr val="tx1"/>
              </a:solidFill>
            </a:endParaRPr>
          </a:p>
        </p:txBody>
      </p:sp>
      <p:sp>
        <p:nvSpPr>
          <p:cNvPr id="14" name="Oval 13"/>
          <p:cNvSpPr/>
          <p:nvPr/>
        </p:nvSpPr>
        <p:spPr>
          <a:xfrm>
            <a:off x="7126791" y="5089217"/>
            <a:ext cx="471340" cy="471341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1</a:t>
            </a:r>
            <a:endParaRPr lang="en-US" sz="2400" b="1" dirty="0" smtClean="0">
              <a:solidFill>
                <a:schemeClr val="tx1"/>
              </a:solidFill>
            </a:endParaRPr>
          </a:p>
        </p:txBody>
      </p:sp>
      <p:sp>
        <p:nvSpPr>
          <p:cNvPr id="15" name="Oval 14"/>
          <p:cNvSpPr/>
          <p:nvPr/>
        </p:nvSpPr>
        <p:spPr>
          <a:xfrm>
            <a:off x="7126791" y="4128563"/>
            <a:ext cx="471340" cy="471341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0</a:t>
            </a:r>
            <a:endParaRPr lang="en-US" sz="2400" b="1" dirty="0" smtClean="0">
              <a:solidFill>
                <a:schemeClr val="tx1"/>
              </a:solidFill>
            </a:endParaRPr>
          </a:p>
        </p:txBody>
      </p:sp>
      <p:sp>
        <p:nvSpPr>
          <p:cNvPr id="16" name="Oval 15"/>
          <p:cNvSpPr/>
          <p:nvPr/>
        </p:nvSpPr>
        <p:spPr>
          <a:xfrm>
            <a:off x="11202879" y="946020"/>
            <a:ext cx="471340" cy="47134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 smtClean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17" name="Oval 16"/>
          <p:cNvSpPr/>
          <p:nvPr/>
        </p:nvSpPr>
        <p:spPr>
          <a:xfrm>
            <a:off x="11317067" y="4658475"/>
            <a:ext cx="471340" cy="471341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 smtClean="0">
                <a:solidFill>
                  <a:schemeClr val="tx1"/>
                </a:solidFill>
              </a:rPr>
              <a:t>1</a:t>
            </a:r>
          </a:p>
        </p:txBody>
      </p:sp>
      <p:pic>
        <p:nvPicPr>
          <p:cNvPr id="21" name="Picture 2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9207" y="3441664"/>
            <a:ext cx="3582658" cy="2316479"/>
          </a:xfrm>
          <a:prstGeom prst="rect">
            <a:avLst/>
          </a:prstGeom>
        </p:spPr>
      </p:pic>
      <p:pic>
        <p:nvPicPr>
          <p:cNvPr id="22" name="Picture 2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34409" y="3735905"/>
            <a:ext cx="3582658" cy="2316479"/>
          </a:xfrm>
          <a:prstGeom prst="rect">
            <a:avLst/>
          </a:prstGeom>
        </p:spPr>
      </p:pic>
      <p:pic>
        <p:nvPicPr>
          <p:cNvPr id="23" name="Picture 2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221" y="23450"/>
            <a:ext cx="3582658" cy="23164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664040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0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30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400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500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6000"/>
                            </p:stCondLst>
                            <p:childTnLst>
                              <p:par>
                                <p:cTn id="2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7000"/>
                            </p:stCondLst>
                            <p:childTnLst>
                              <p:par>
                                <p:cTn id="3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8000"/>
                            </p:stCondLst>
                            <p:childTnLst>
                              <p:par>
                                <p:cTn id="3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9000"/>
                            </p:stCondLst>
                            <p:childTnLst>
                              <p:par>
                                <p:cTn id="4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1000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11000"/>
                            </p:stCondLst>
                            <p:childTnLst>
                              <p:par>
                                <p:cTn id="4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12000"/>
                            </p:stCondLst>
                            <p:childTnLst>
                              <p:par>
                                <p:cTn id="5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13000"/>
                            </p:stCondLst>
                            <p:childTnLst>
                              <p:par>
                                <p:cTn id="5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14000"/>
                            </p:stCondLst>
                            <p:childTnLst>
                              <p:par>
                                <p:cTn id="6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1500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pct50">
          <a:fgClr>
            <a:schemeClr val="accent1"/>
          </a:fgClr>
          <a:bgClr>
            <a:schemeClr val="bg1"/>
          </a:bgClr>
        </a:patt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0AC9325-D95E-1846-F326-DFC1ECE2C4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A91836B2-7B54-7D96-EB72-C2E202333693}"/>
              </a:ext>
            </a:extLst>
          </p:cNvPr>
          <p:cNvSpPr txBox="1"/>
          <p:nvPr/>
        </p:nvSpPr>
        <p:spPr>
          <a:xfrm>
            <a:off x="670423" y="602751"/>
            <a:ext cx="5270642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600" b="1" i="1" dirty="0" smtClean="0">
                <a:latin typeface="Arial Black" panose="020B0A04020102020204" pitchFamily="34" charset="0"/>
              </a:rPr>
              <a:t>XOR Gate </a:t>
            </a:r>
            <a:endParaRPr lang="en-US" sz="6600" b="1" i="1" dirty="0">
              <a:latin typeface="Arial Black" panose="020B0A04020102020204" pitchFamily="34" charset="0"/>
            </a:endParaRP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34294265"/>
              </p:ext>
            </p:extLst>
          </p:nvPr>
        </p:nvGraphicFramePr>
        <p:xfrm>
          <a:off x="2670049" y="2473462"/>
          <a:ext cx="7351776" cy="3072044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2450592">
                  <a:extLst>
                    <a:ext uri="{9D8B030D-6E8A-4147-A177-3AD203B41FA5}">
                      <a16:colId xmlns:a16="http://schemas.microsoft.com/office/drawing/2014/main" val="2102292928"/>
                    </a:ext>
                  </a:extLst>
                </a:gridCol>
                <a:gridCol w="2450592">
                  <a:extLst>
                    <a:ext uri="{9D8B030D-6E8A-4147-A177-3AD203B41FA5}">
                      <a16:colId xmlns:a16="http://schemas.microsoft.com/office/drawing/2014/main" val="493955039"/>
                    </a:ext>
                  </a:extLst>
                </a:gridCol>
                <a:gridCol w="2450592">
                  <a:extLst>
                    <a:ext uri="{9D8B030D-6E8A-4147-A177-3AD203B41FA5}">
                      <a16:colId xmlns:a16="http://schemas.microsoft.com/office/drawing/2014/main" val="1965037428"/>
                    </a:ext>
                  </a:extLst>
                </a:gridCol>
              </a:tblGrid>
              <a:tr h="723780">
                <a:tc>
                  <a:txBody>
                    <a:bodyPr/>
                    <a:lstStyle/>
                    <a:p>
                      <a:pPr algn="ctr"/>
                      <a:r>
                        <a:rPr lang="en-US" sz="3200" dirty="0" smtClean="0"/>
                        <a:t>A</a:t>
                      </a:r>
                      <a:endParaRPr lang="en-US" sz="3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dirty="0" smtClean="0"/>
                        <a:t>B</a:t>
                      </a:r>
                      <a:endParaRPr lang="en-US" sz="3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dirty="0" smtClean="0"/>
                        <a:t>A   B</a:t>
                      </a:r>
                      <a:endParaRPr lang="en-US" sz="3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522277656"/>
                  </a:ext>
                </a:extLst>
              </a:tr>
              <a:tr h="587066">
                <a:tc>
                  <a:txBody>
                    <a:bodyPr/>
                    <a:lstStyle/>
                    <a:p>
                      <a:r>
                        <a:rPr lang="en-US" sz="2400" dirty="0" smtClean="0">
                          <a:latin typeface="Algerian" panose="04020705040A02060702" pitchFamily="82" charset="0"/>
                        </a:rPr>
                        <a:t>0</a:t>
                      </a:r>
                      <a:endParaRPr lang="en-US" sz="2400" dirty="0">
                        <a:latin typeface="Algerian" panose="04020705040A02060702" pitchFamily="82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 smtClean="0">
                          <a:latin typeface="Algerian" panose="04020705040A02060702" pitchFamily="82" charset="0"/>
                        </a:rPr>
                        <a:t>1</a:t>
                      </a:r>
                      <a:endParaRPr lang="en-US" sz="2400" dirty="0">
                        <a:latin typeface="Algerian" panose="04020705040A02060702" pitchFamily="82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 smtClean="0">
                          <a:latin typeface="Algerian" panose="04020705040A02060702" pitchFamily="82" charset="0"/>
                        </a:rPr>
                        <a:t>1</a:t>
                      </a:r>
                      <a:endParaRPr lang="en-US" sz="2400" dirty="0">
                        <a:latin typeface="Algerian" panose="04020705040A02060702" pitchFamily="82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173546058"/>
                  </a:ext>
                </a:extLst>
              </a:tr>
              <a:tr h="587066">
                <a:tc>
                  <a:txBody>
                    <a:bodyPr/>
                    <a:lstStyle/>
                    <a:p>
                      <a:r>
                        <a:rPr lang="en-US" sz="2400" dirty="0" smtClean="0">
                          <a:latin typeface="Algerian" panose="04020705040A02060702" pitchFamily="82" charset="0"/>
                        </a:rPr>
                        <a:t>1</a:t>
                      </a:r>
                      <a:endParaRPr lang="en-US" sz="2400" dirty="0">
                        <a:latin typeface="Algerian" panose="04020705040A02060702" pitchFamily="82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 smtClean="0">
                          <a:latin typeface="Algerian" panose="04020705040A02060702" pitchFamily="82" charset="0"/>
                        </a:rPr>
                        <a:t>1</a:t>
                      </a:r>
                      <a:endParaRPr lang="en-US" sz="2400" dirty="0">
                        <a:latin typeface="Algerian" panose="04020705040A02060702" pitchFamily="82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 smtClean="0">
                          <a:latin typeface="Algerian" panose="04020705040A02060702" pitchFamily="82" charset="0"/>
                        </a:rPr>
                        <a:t>0</a:t>
                      </a:r>
                      <a:endParaRPr lang="en-US" sz="2400" dirty="0">
                        <a:latin typeface="Algerian" panose="04020705040A02060702" pitchFamily="82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321597683"/>
                  </a:ext>
                </a:extLst>
              </a:tr>
              <a:tr h="587066">
                <a:tc>
                  <a:txBody>
                    <a:bodyPr/>
                    <a:lstStyle/>
                    <a:p>
                      <a:r>
                        <a:rPr lang="en-US" sz="2400" dirty="0" smtClean="0">
                          <a:latin typeface="Algerian" panose="04020705040A02060702" pitchFamily="82" charset="0"/>
                        </a:rPr>
                        <a:t>0</a:t>
                      </a:r>
                      <a:endParaRPr lang="en-US" sz="2400" dirty="0">
                        <a:latin typeface="Algerian" panose="04020705040A02060702" pitchFamily="82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 smtClean="0">
                          <a:latin typeface="Algerian" panose="04020705040A02060702" pitchFamily="82" charset="0"/>
                        </a:rPr>
                        <a:t>0</a:t>
                      </a:r>
                      <a:endParaRPr lang="en-US" sz="2400" dirty="0">
                        <a:latin typeface="Algerian" panose="04020705040A02060702" pitchFamily="82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 smtClean="0">
                          <a:latin typeface="Algerian" panose="04020705040A02060702" pitchFamily="82" charset="0"/>
                        </a:rPr>
                        <a:t>0</a:t>
                      </a:r>
                      <a:endParaRPr lang="en-US" sz="2400" dirty="0">
                        <a:latin typeface="Algerian" panose="04020705040A02060702" pitchFamily="82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577457405"/>
                  </a:ext>
                </a:extLst>
              </a:tr>
              <a:tr h="587066">
                <a:tc>
                  <a:txBody>
                    <a:bodyPr/>
                    <a:lstStyle/>
                    <a:p>
                      <a:r>
                        <a:rPr lang="en-US" sz="2400" dirty="0" smtClean="0">
                          <a:latin typeface="Algerian" panose="04020705040A02060702" pitchFamily="82" charset="0"/>
                        </a:rPr>
                        <a:t>1</a:t>
                      </a:r>
                      <a:endParaRPr lang="en-US" sz="2400" dirty="0">
                        <a:latin typeface="Algerian" panose="04020705040A02060702" pitchFamily="82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 smtClean="0">
                          <a:latin typeface="Algerian" panose="04020705040A02060702" pitchFamily="82" charset="0"/>
                        </a:rPr>
                        <a:t>0</a:t>
                      </a:r>
                      <a:endParaRPr lang="en-US" sz="2400" dirty="0">
                        <a:latin typeface="Algerian" panose="04020705040A02060702" pitchFamily="82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 smtClean="0">
                          <a:latin typeface="Algerian" panose="04020705040A02060702" pitchFamily="82" charset="0"/>
                        </a:rPr>
                        <a:t>1</a:t>
                      </a:r>
                      <a:endParaRPr lang="en-US" sz="2400" dirty="0">
                        <a:latin typeface="Algerian" panose="04020705040A02060702" pitchFamily="82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249617963"/>
                  </a:ext>
                </a:extLst>
              </a:tr>
            </a:tbl>
          </a:graphicData>
        </a:graphic>
      </p:graphicFrame>
      <p:sp>
        <p:nvSpPr>
          <p:cNvPr id="3" name="Flowchart: Or 2"/>
          <p:cNvSpPr/>
          <p:nvPr/>
        </p:nvSpPr>
        <p:spPr>
          <a:xfrm>
            <a:off x="8680704" y="2638077"/>
            <a:ext cx="249936" cy="227043"/>
          </a:xfrm>
          <a:prstGeom prst="flowChartOr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738044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pct50">
          <a:fgClr>
            <a:schemeClr val="accent1"/>
          </a:fgClr>
          <a:bgClr>
            <a:schemeClr val="bg1"/>
          </a:bgClr>
        </a:patt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FC04480-8028-C792-471F-0B911AE7EE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5CF35B7-5350-B64C-0B3B-76C8DA1F2B9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1625" y="-143006"/>
            <a:ext cx="4151155" cy="3546586"/>
          </a:xfrm>
          <a:prstGeom prst="rect">
            <a:avLst/>
          </a:prstGeom>
        </p:spPr>
      </p:pic>
      <p:sp>
        <p:nvSpPr>
          <p:cNvPr id="19" name="Oval 18"/>
          <p:cNvSpPr/>
          <p:nvPr/>
        </p:nvSpPr>
        <p:spPr>
          <a:xfrm>
            <a:off x="251257" y="401402"/>
            <a:ext cx="471340" cy="47134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 smtClean="0">
                <a:solidFill>
                  <a:schemeClr val="tx1"/>
                </a:solidFill>
              </a:rPr>
              <a:t>1</a:t>
            </a:r>
            <a:endParaRPr lang="en-US" sz="2400" b="1" dirty="0">
              <a:solidFill>
                <a:schemeClr val="tx1"/>
              </a:solidFill>
            </a:endParaRPr>
          </a:p>
        </p:txBody>
      </p:sp>
      <p:sp>
        <p:nvSpPr>
          <p:cNvPr id="23" name="Oval 22"/>
          <p:cNvSpPr/>
          <p:nvPr/>
        </p:nvSpPr>
        <p:spPr>
          <a:xfrm>
            <a:off x="251257" y="1417360"/>
            <a:ext cx="471340" cy="47134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 smtClean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24" name="Oval 23"/>
          <p:cNvSpPr/>
          <p:nvPr/>
        </p:nvSpPr>
        <p:spPr>
          <a:xfrm>
            <a:off x="4371808" y="920113"/>
            <a:ext cx="471340" cy="47134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 smtClean="0">
                <a:solidFill>
                  <a:schemeClr val="tx1"/>
                </a:solidFill>
              </a:rPr>
              <a:t>1</a:t>
            </a:r>
            <a:endParaRPr lang="en-US" sz="2400" b="1" dirty="0">
              <a:solidFill>
                <a:schemeClr val="tx1"/>
              </a:solidFill>
            </a:endParaRPr>
          </a:p>
        </p:txBody>
      </p:sp>
      <p:sp>
        <p:nvSpPr>
          <p:cNvPr id="25" name="Oval 24"/>
          <p:cNvSpPr/>
          <p:nvPr/>
        </p:nvSpPr>
        <p:spPr>
          <a:xfrm>
            <a:off x="359728" y="4853548"/>
            <a:ext cx="471340" cy="47134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 smtClean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26" name="Oval 25"/>
          <p:cNvSpPr/>
          <p:nvPr/>
        </p:nvSpPr>
        <p:spPr>
          <a:xfrm>
            <a:off x="327174" y="3892894"/>
            <a:ext cx="471340" cy="47134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 smtClean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27" name="Oval 26"/>
          <p:cNvSpPr/>
          <p:nvPr/>
        </p:nvSpPr>
        <p:spPr>
          <a:xfrm>
            <a:off x="4470820" y="4364234"/>
            <a:ext cx="471340" cy="47134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0</a:t>
            </a:r>
            <a:endParaRPr lang="en-US" sz="2400" b="1" dirty="0" smtClean="0">
              <a:solidFill>
                <a:schemeClr val="tx1"/>
              </a:solidFill>
            </a:endParaRPr>
          </a:p>
        </p:txBody>
      </p:sp>
      <p:sp>
        <p:nvSpPr>
          <p:cNvPr id="28" name="Oval 27"/>
          <p:cNvSpPr/>
          <p:nvPr/>
        </p:nvSpPr>
        <p:spPr>
          <a:xfrm>
            <a:off x="6975807" y="1417360"/>
            <a:ext cx="471340" cy="47134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 smtClean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29" name="Oval 28"/>
          <p:cNvSpPr/>
          <p:nvPr/>
        </p:nvSpPr>
        <p:spPr>
          <a:xfrm>
            <a:off x="7005687" y="556180"/>
            <a:ext cx="471340" cy="423651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1</a:t>
            </a:r>
            <a:endParaRPr lang="en-US" sz="2400" b="1" dirty="0" smtClean="0">
              <a:solidFill>
                <a:schemeClr val="tx1"/>
              </a:solidFill>
            </a:endParaRPr>
          </a:p>
        </p:txBody>
      </p:sp>
      <p:sp>
        <p:nvSpPr>
          <p:cNvPr id="30" name="Oval 29"/>
          <p:cNvSpPr/>
          <p:nvPr/>
        </p:nvSpPr>
        <p:spPr>
          <a:xfrm>
            <a:off x="7126791" y="5089217"/>
            <a:ext cx="471340" cy="471341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1</a:t>
            </a:r>
            <a:endParaRPr lang="en-US" sz="2400" b="1" dirty="0" smtClean="0">
              <a:solidFill>
                <a:schemeClr val="tx1"/>
              </a:solidFill>
            </a:endParaRPr>
          </a:p>
        </p:txBody>
      </p:sp>
      <p:sp>
        <p:nvSpPr>
          <p:cNvPr id="31" name="Oval 30"/>
          <p:cNvSpPr/>
          <p:nvPr/>
        </p:nvSpPr>
        <p:spPr>
          <a:xfrm>
            <a:off x="7126791" y="4128563"/>
            <a:ext cx="471340" cy="471341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0</a:t>
            </a:r>
            <a:endParaRPr lang="en-US" sz="2400" b="1" dirty="0" smtClean="0">
              <a:solidFill>
                <a:schemeClr val="tx1"/>
              </a:solidFill>
            </a:endParaRPr>
          </a:p>
        </p:txBody>
      </p:sp>
      <p:sp>
        <p:nvSpPr>
          <p:cNvPr id="32" name="Oval 31"/>
          <p:cNvSpPr/>
          <p:nvPr/>
        </p:nvSpPr>
        <p:spPr>
          <a:xfrm>
            <a:off x="11202879" y="946020"/>
            <a:ext cx="471340" cy="47134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0</a:t>
            </a:r>
            <a:endParaRPr lang="en-US" sz="2400" b="1" dirty="0" smtClean="0">
              <a:solidFill>
                <a:schemeClr val="tx1"/>
              </a:solidFill>
            </a:endParaRPr>
          </a:p>
        </p:txBody>
      </p:sp>
      <p:sp>
        <p:nvSpPr>
          <p:cNvPr id="33" name="Oval 32"/>
          <p:cNvSpPr/>
          <p:nvPr/>
        </p:nvSpPr>
        <p:spPr>
          <a:xfrm>
            <a:off x="11317067" y="4658475"/>
            <a:ext cx="471340" cy="471341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 smtClean="0">
                <a:solidFill>
                  <a:schemeClr val="tx1"/>
                </a:solidFill>
              </a:rPr>
              <a:t>1</a:t>
            </a:r>
          </a:p>
        </p:txBody>
      </p:sp>
      <p:pic>
        <p:nvPicPr>
          <p:cNvPr id="34" name="Picture 33">
            <a:extLst>
              <a:ext uri="{FF2B5EF4-FFF2-40B4-BE49-F238E27FC236}">
                <a16:creationId xmlns:a16="http://schemas.microsoft.com/office/drawing/2014/main" id="{95CF35B7-5350-B64C-0B3B-76C8DA1F2B9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5775" y="3356523"/>
            <a:ext cx="4151155" cy="3546586"/>
          </a:xfrm>
          <a:prstGeom prst="rect">
            <a:avLst/>
          </a:prstGeom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95CF35B7-5350-B64C-0B3B-76C8DA1F2B9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03762" y="6001"/>
            <a:ext cx="4151155" cy="3546586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95CF35B7-5350-B64C-0B3B-76C8DA1F2B9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94936" y="3571150"/>
            <a:ext cx="4151155" cy="35465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729583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200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3000"/>
                            </p:stCondLst>
                            <p:childTnLst>
                              <p:par>
                                <p:cTn id="1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4000"/>
                            </p:stCondLst>
                            <p:childTnLst>
                              <p:par>
                                <p:cTn id="2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5000"/>
                            </p:stCondLst>
                            <p:childTnLst>
                              <p:par>
                                <p:cTn id="3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6000"/>
                            </p:stCondLst>
                            <p:childTnLst>
                              <p:par>
                                <p:cTn id="3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700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8000"/>
                            </p:stCondLst>
                            <p:childTnLst>
                              <p:par>
                                <p:cTn id="4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9000"/>
                            </p:stCondLst>
                            <p:childTnLst>
                              <p:par>
                                <p:cTn id="5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1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10000"/>
                            </p:stCondLst>
                            <p:childTnLst>
                              <p:par>
                                <p:cTn id="6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11000"/>
                            </p:stCondLst>
                            <p:childTnLst>
                              <p:par>
                                <p:cTn id="6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1200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alpha val="73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083443" y="960698"/>
            <a:ext cx="781291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3"/>
            <a:r>
              <a:rPr lang="en-US" sz="3600" u="sng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Presentation Over </a:t>
            </a:r>
            <a:endParaRPr lang="en-US" sz="3600" u="sng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Black" panose="020B0A04020102020204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2136493"/>
            <a:ext cx="881990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3"/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If you understood everything — congratulations! 🎓</a:t>
            </a:r>
            <a:b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If not… well, even computers take time to process 😜</a:t>
            </a:r>
            <a:endParaRPr lang="en-US" sz="2400" u="sng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4481203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178</TotalTime>
  <Words>138</Words>
  <Application>Microsoft Office PowerPoint</Application>
  <PresentationFormat>Widescreen</PresentationFormat>
  <Paragraphs>91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5" baseType="lpstr">
      <vt:lpstr>Algerian</vt:lpstr>
      <vt:lpstr>Arial</vt:lpstr>
      <vt:lpstr>Arial Black</vt:lpstr>
      <vt:lpstr>Calibri</vt:lpstr>
      <vt:lpstr>Calibri Light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</dc:creator>
  <cp:lastModifiedBy>Laptop store lhr</cp:lastModifiedBy>
  <cp:revision>18</cp:revision>
  <dcterms:created xsi:type="dcterms:W3CDTF">2025-10-08T12:19:01Z</dcterms:created>
  <dcterms:modified xsi:type="dcterms:W3CDTF">2025-11-19T12:44:08Z</dcterms:modified>
</cp:coreProperties>
</file>